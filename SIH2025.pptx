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5E2CD-53AD-449F-B2C9-3FCC5E540DDD}" v="171" dt="2025-09-21T19:19:25.133"/>
    <p1510:client id="{5CAAC952-0D18-4A43-A9F0-291BEB60DDE2}" v="9" dt="2025-09-21T20:07:10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2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ncei.noaa.gov/data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ncei.noaa.gov/data/ocean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.gov.in/resource/indian-ocean-argo-data?utm_source=chatgpt.com" TargetMode="External"/><Relationship Id="rId5" Type="http://schemas.openxmlformats.org/officeDocument/2006/relationships/hyperlink" Target="https://argo.ucsd.edu/data/acknowledging-argo/" TargetMode="External"/><Relationship Id="rId4" Type="http://schemas.openxmlformats.org/officeDocument/2006/relationships/hyperlink" Target="https://www.ncei.noaa.gov/access/metadata/landing-page/bin/iso?id=gov.noaa.nodc%3AArgo-Monthly&amp;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2" y="851523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21213" y="169961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59250" y="6297"/>
            <a:ext cx="8082116" cy="146267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81036" y="-430641"/>
            <a:ext cx="9314349" cy="204257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08" y="737636"/>
            <a:ext cx="646088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SIH25040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 err="1"/>
              <a:t>FloatChat</a:t>
            </a:r>
            <a:r>
              <a:rPr lang="en-US" sz="2400" dirty="0"/>
              <a:t> - AI-Powered Conversational Interface for </a:t>
            </a:r>
            <a:r>
              <a:rPr lang="en-US" sz="2400" b="1" dirty="0"/>
              <a:t>ARGO Ocean</a:t>
            </a:r>
            <a:r>
              <a:rPr lang="en-US" sz="2400" dirty="0"/>
              <a:t> Data Discovery and Visualization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AU_ISIH_J4_26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Ctrl+Alt+Elite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9019" y="-6801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8302" y="-43431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Ctrl+Alt+Elite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578" y="-10067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F0E194-FF3F-6BCC-ABAF-92D3240AF563}"/>
              </a:ext>
            </a:extLst>
          </p:cNvPr>
          <p:cNvSpPr/>
          <p:nvPr/>
        </p:nvSpPr>
        <p:spPr>
          <a:xfrm>
            <a:off x="141512" y="933715"/>
            <a:ext cx="5816836" cy="33924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latin typeface="Aptos" panose="020B0004020202020204" pitchFamily="34" charset="0"/>
              </a:rPr>
              <a:t>Problem Statement:</a:t>
            </a:r>
            <a:endParaRPr lang="en-US" sz="2800" dirty="0">
              <a:latin typeface="Aptos" panose="020B00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ARGO floats collect critical ocean data (temperature, salinity, oxygen) but store it in complex NetCDF files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Only technical experts can access and analyze this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4000+ floats generate valuable insights locked away from students, policymakers, and researchers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  <a:cs typeface="Arial" panose="020B0604020202020204" pitchFamily="34" charset="0"/>
              </a:rPr>
              <a:t>Current tools require programming skills and domain expertise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C4A2C7-1FF0-B5B7-958E-FB6477C0E5B8}"/>
              </a:ext>
            </a:extLst>
          </p:cNvPr>
          <p:cNvSpPr/>
          <p:nvPr/>
        </p:nvSpPr>
        <p:spPr>
          <a:xfrm>
            <a:off x="6096001" y="1020184"/>
            <a:ext cx="5954487" cy="50190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latin typeface="Aptos" panose="020B0004020202020204" pitchFamily="34" charset="0"/>
                <a:cs typeface="Arial" panose="020B0604020202020204" pitchFamily="34" charset="0"/>
              </a:rPr>
              <a:t>Proposed Solution: </a:t>
            </a:r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FloatChat</a:t>
            </a: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 transforms complex ocean data into conversational insights using AI and natural language processing.</a:t>
            </a:r>
          </a:p>
          <a:p>
            <a:pPr algn="just"/>
            <a:endParaRPr lang="en-US" sz="20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latin typeface="Aptos" panose="020B0004020202020204" pitchFamily="34" charset="0"/>
              </a:rPr>
              <a:t>Our model promises:</a:t>
            </a:r>
          </a:p>
          <a:p>
            <a:pPr algn="just"/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Provides</a:t>
            </a: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 instant answers to ocean queries in plain English</a:t>
            </a:r>
          </a:p>
          <a:p>
            <a:pPr algn="just"/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Ensures</a:t>
            </a: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 easy visualization through interactive maps and charts</a:t>
            </a:r>
          </a:p>
          <a:p>
            <a:pPr algn="just"/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Supports</a:t>
            </a: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 non-technical users with zero coding required</a:t>
            </a:r>
          </a:p>
          <a:p>
            <a:pPr algn="just"/>
            <a:r>
              <a:rPr lang="en-US" sz="2000" b="1" dirty="0">
                <a:latin typeface="Aptos" panose="020B0004020202020204" pitchFamily="34" charset="0"/>
                <a:cs typeface="Arial" panose="020B0604020202020204" pitchFamily="34" charset="0"/>
              </a:rPr>
              <a:t>Improves</a:t>
            </a:r>
            <a:r>
              <a:rPr lang="en-US" sz="2000" dirty="0">
                <a:latin typeface="Aptos" panose="020B0004020202020204" pitchFamily="34" charset="0"/>
                <a:cs typeface="Arial" panose="020B0604020202020204" pitchFamily="34" charset="0"/>
              </a:rPr>
              <a:t> data accessibility from days to seconds</a:t>
            </a:r>
          </a:p>
          <a:p>
            <a:pPr algn="just"/>
            <a:endParaRPr lang="en-IN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944B84-0340-5313-A6B3-51E95E84977A}"/>
              </a:ext>
            </a:extLst>
          </p:cNvPr>
          <p:cNvSpPr/>
          <p:nvPr/>
        </p:nvSpPr>
        <p:spPr>
          <a:xfrm>
            <a:off x="2682033" y="4543782"/>
            <a:ext cx="1437525" cy="81945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Space Agencies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FA0D08-0653-C100-15EB-35F33A9044EE}"/>
              </a:ext>
            </a:extLst>
          </p:cNvPr>
          <p:cNvSpPr/>
          <p:nvPr/>
        </p:nvSpPr>
        <p:spPr>
          <a:xfrm>
            <a:off x="160442" y="4871431"/>
            <a:ext cx="2082283" cy="6535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Research Organizations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78D24B-81DF-21A9-33C9-D6781D89079D}"/>
              </a:ext>
            </a:extLst>
          </p:cNvPr>
          <p:cNvSpPr txBox="1"/>
          <p:nvPr/>
        </p:nvSpPr>
        <p:spPr>
          <a:xfrm>
            <a:off x="68827" y="43776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Aptos" panose="020B0004020202020204" pitchFamily="34" charset="0"/>
              </a:rPr>
              <a:t>Target Audiences: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98C6D3-DCEB-91BD-A69E-0ED512BEEE74}"/>
              </a:ext>
            </a:extLst>
          </p:cNvPr>
          <p:cNvSpPr/>
          <p:nvPr/>
        </p:nvSpPr>
        <p:spPr>
          <a:xfrm>
            <a:off x="3802883" y="5348441"/>
            <a:ext cx="2293117" cy="86644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Environmental Organizations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162B0F-1005-544C-5E64-4A65ED899AE0}"/>
              </a:ext>
            </a:extLst>
          </p:cNvPr>
          <p:cNvSpPr/>
          <p:nvPr/>
        </p:nvSpPr>
        <p:spPr>
          <a:xfrm>
            <a:off x="4222798" y="4508632"/>
            <a:ext cx="1522114" cy="725599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Scientists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04F120-D780-7AFF-6465-C935A8E1C56B}"/>
              </a:ext>
            </a:extLst>
          </p:cNvPr>
          <p:cNvSpPr/>
          <p:nvPr/>
        </p:nvSpPr>
        <p:spPr>
          <a:xfrm>
            <a:off x="1649993" y="5465374"/>
            <a:ext cx="1946411" cy="81945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Government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04" y="6104736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0CCAB215-660E-2B9D-F656-761DEF7C53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Ctrl+Alt+Elite</a:t>
            </a:r>
            <a:endParaRPr lang="en-IN" dirty="0"/>
          </a:p>
        </p:txBody>
      </p:sp>
      <p:pic>
        <p:nvPicPr>
          <p:cNvPr id="41" name="Picture 40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91B33827-016E-0962-72B3-0861BDABF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" y="924319"/>
            <a:ext cx="4670397" cy="5009361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3ADF638-E0C1-3E89-C566-AC8D27AF79B0}"/>
              </a:ext>
            </a:extLst>
          </p:cNvPr>
          <p:cNvSpPr/>
          <p:nvPr/>
        </p:nvSpPr>
        <p:spPr>
          <a:xfrm>
            <a:off x="4258407" y="1179965"/>
            <a:ext cx="4142015" cy="4581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b="1" dirty="0">
                <a:latin typeface="Aptos" panose="020B0004020202020204" pitchFamily="34" charset="0"/>
              </a:rPr>
              <a:t>Tech Stack:</a:t>
            </a:r>
          </a:p>
          <a:p>
            <a:r>
              <a:rPr lang="en-IN" b="1" dirty="0">
                <a:latin typeface="Aptos" panose="020B0004020202020204" pitchFamily="34" charset="0"/>
              </a:rPr>
              <a:t>Data Processing: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Python (</a:t>
            </a:r>
            <a:r>
              <a:rPr lang="en-IN" dirty="0" err="1">
                <a:latin typeface="Aptos" panose="020B0004020202020204" pitchFamily="34" charset="0"/>
              </a:rPr>
              <a:t>xarray</a:t>
            </a:r>
            <a:r>
              <a:rPr lang="en-IN" dirty="0">
                <a:latin typeface="Aptos" panose="020B0004020202020204" pitchFamily="34" charset="0"/>
              </a:rPr>
              <a:t>, pandas)</a:t>
            </a:r>
          </a:p>
          <a:p>
            <a:r>
              <a:rPr lang="en-IN">
                <a:latin typeface="Aptos" panose="020B0004020202020204" pitchFamily="34" charset="0"/>
              </a:rPr>
              <a:t>PostgreSQL 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b="1" dirty="0">
                <a:latin typeface="Aptos" panose="020B0004020202020204" pitchFamily="34" charset="0"/>
              </a:rPr>
              <a:t>Backend: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Express.js</a:t>
            </a:r>
          </a:p>
          <a:p>
            <a:r>
              <a:rPr lang="en-IN" dirty="0">
                <a:latin typeface="Aptos" panose="020B0004020202020204" pitchFamily="34" charset="0"/>
              </a:rPr>
              <a:t>RAG Pipeline</a:t>
            </a:r>
          </a:p>
          <a:p>
            <a:r>
              <a:rPr lang="en-IN" dirty="0">
                <a:latin typeface="Aptos" panose="020B0004020202020204" pitchFamily="34" charset="0"/>
              </a:rPr>
              <a:t>LLMs (GPT/</a:t>
            </a:r>
            <a:r>
              <a:rPr lang="en-IN" dirty="0" err="1">
                <a:latin typeface="Aptos" panose="020B0004020202020204" pitchFamily="34" charset="0"/>
              </a:rPr>
              <a:t>LLaMA</a:t>
            </a:r>
            <a:r>
              <a:rPr lang="en-IN" dirty="0">
                <a:latin typeface="Aptos" panose="020B0004020202020204" pitchFamily="34" charset="0"/>
              </a:rPr>
              <a:t>/Mistral)</a:t>
            </a:r>
          </a:p>
          <a:p>
            <a:r>
              <a:rPr lang="en-IN" b="1" dirty="0">
                <a:latin typeface="Aptos" panose="020B0004020202020204" pitchFamily="34" charset="0"/>
              </a:rPr>
              <a:t>Frontend &amp; Visualization: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React.js</a:t>
            </a:r>
          </a:p>
          <a:p>
            <a:r>
              <a:rPr lang="en-IN" dirty="0">
                <a:latin typeface="Aptos" panose="020B0004020202020204" pitchFamily="34" charset="0"/>
              </a:rPr>
              <a:t>Leaflet, Cesium.js, </a:t>
            </a:r>
            <a:r>
              <a:rPr lang="en-IN" dirty="0" err="1">
                <a:latin typeface="Aptos" panose="020B0004020202020204" pitchFamily="34" charset="0"/>
              </a:rPr>
              <a:t>Plotly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b="1" dirty="0">
                <a:latin typeface="Aptos" panose="020B0004020202020204" pitchFamily="34" charset="0"/>
              </a:rPr>
              <a:t>Data Formats: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NetCDF → SQL</a:t>
            </a:r>
          </a:p>
          <a:p>
            <a:r>
              <a:rPr lang="en-IN" dirty="0">
                <a:latin typeface="Aptos" panose="020B0004020202020204" pitchFamily="34" charset="0"/>
              </a:rPr>
              <a:t>JSON</a:t>
            </a:r>
          </a:p>
        </p:txBody>
      </p:sp>
      <p:pic>
        <p:nvPicPr>
          <p:cNvPr id="44" name="Picture 4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1FBB0C-3B29-C0A9-BCD5-FD64EA734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119" y="1818550"/>
            <a:ext cx="3429739" cy="248592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AF15767-8760-3FE0-3484-2B7283346479}"/>
              </a:ext>
            </a:extLst>
          </p:cNvPr>
          <p:cNvSpPr txBox="1"/>
          <p:nvPr/>
        </p:nvSpPr>
        <p:spPr>
          <a:xfrm>
            <a:off x="8606971" y="1295330"/>
            <a:ext cx="1420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Output </a:t>
            </a:r>
            <a:r>
              <a:rPr lang="en-US" sz="2800" b="1" dirty="0">
                <a:latin typeface="Aptos Display" panose="020B0004020202020204" pitchFamily="34" charset="0"/>
              </a:rPr>
              <a:t>:</a:t>
            </a:r>
            <a:endParaRPr lang="en-IN" sz="2800" b="1" dirty="0">
              <a:latin typeface="Aptos Display" panose="020B000402020202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1FA7F5-5BA4-29F7-EE77-7B62723FC8CD}"/>
              </a:ext>
            </a:extLst>
          </p:cNvPr>
          <p:cNvSpPr/>
          <p:nvPr/>
        </p:nvSpPr>
        <p:spPr>
          <a:xfrm>
            <a:off x="8536119" y="4304471"/>
            <a:ext cx="3336719" cy="15537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Product Status: </a:t>
            </a:r>
            <a:r>
              <a:rPr lang="en-US" dirty="0">
                <a:latin typeface="Aptos" panose="020B0004020202020204" pitchFamily="34" charset="0"/>
              </a:rPr>
              <a:t>40% of the app is built with a dashboard and UI added, and further development, testing, and validation are in 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1273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5C68E4-94CF-3136-E405-D3D249F11402}"/>
              </a:ext>
            </a:extLst>
          </p:cNvPr>
          <p:cNvSpPr/>
          <p:nvPr/>
        </p:nvSpPr>
        <p:spPr>
          <a:xfrm>
            <a:off x="4511078" y="1154905"/>
            <a:ext cx="7447932" cy="218746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800" b="1" dirty="0">
                <a:latin typeface="Aptos" panose="020B0004020202020204" pitchFamily="34" charset="0"/>
              </a:rPr>
              <a:t>Potential Challenges: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ptos" panose="020B0004020202020204" pitchFamily="34" charset="0"/>
              </a:rPr>
              <a:t>Technical</a:t>
            </a:r>
            <a:r>
              <a:rPr lang="en-IN" dirty="0">
                <a:latin typeface="Aptos" panose="020B0004020202020204" pitchFamily="34" charset="0"/>
              </a:rPr>
              <a:t>: NetCDF parsing complexity, real-time data synchronization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ptos" panose="020B0004020202020204" pitchFamily="34" charset="0"/>
              </a:rPr>
              <a:t>Accuracy</a:t>
            </a:r>
            <a:r>
              <a:rPr lang="en-IN" dirty="0">
                <a:latin typeface="Aptos" panose="020B0004020202020204" pitchFamily="34" charset="0"/>
              </a:rPr>
              <a:t>: Ensuring AI responses maintain scientific precision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ptos" panose="020B0004020202020204" pitchFamily="34" charset="0"/>
              </a:rPr>
              <a:t>Scaling</a:t>
            </a:r>
            <a:r>
              <a:rPr lang="en-IN" dirty="0">
                <a:latin typeface="Aptos" panose="020B0004020202020204" pitchFamily="34" charset="0"/>
              </a:rPr>
              <a:t>: Handling concurrent users and large datasets efficiently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4C81DC-B91C-75DF-9DAC-471A82DCCF7A}"/>
              </a:ext>
            </a:extLst>
          </p:cNvPr>
          <p:cNvSpPr/>
          <p:nvPr/>
        </p:nvSpPr>
        <p:spPr>
          <a:xfrm>
            <a:off x="4546892" y="3559063"/>
            <a:ext cx="7412118" cy="262259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b="1" dirty="0">
                <a:latin typeface="Aptos" panose="020B0004020202020204" pitchFamily="34" charset="0"/>
              </a:rPr>
              <a:t>Strategies to Overcome:</a:t>
            </a:r>
          </a:p>
          <a:p>
            <a:r>
              <a:rPr lang="en-IN" sz="2000" b="1" dirty="0">
                <a:latin typeface="Aptos" panose="020B0004020202020204" pitchFamily="34" charset="0"/>
              </a:rPr>
              <a:t>Robust Testing</a:t>
            </a:r>
            <a:r>
              <a:rPr lang="en-IN" sz="2000" dirty="0">
                <a:latin typeface="Aptos" panose="020B0004020202020204" pitchFamily="34" charset="0"/>
              </a:rPr>
              <a:t>: Extensive validation against known oceanographic patterns</a:t>
            </a:r>
          </a:p>
          <a:p>
            <a:r>
              <a:rPr lang="en-IN" sz="2000" b="1" dirty="0">
                <a:latin typeface="Aptos" panose="020B0004020202020204" pitchFamily="34" charset="0"/>
              </a:rPr>
              <a:t>Performance Optimization</a:t>
            </a:r>
            <a:r>
              <a:rPr lang="en-IN" sz="2000" dirty="0">
                <a:latin typeface="Aptos" panose="020B0004020202020204" pitchFamily="34" charset="0"/>
              </a:rPr>
              <a:t>: Caching, database indexing, efficient algorithms</a:t>
            </a:r>
          </a:p>
          <a:p>
            <a:r>
              <a:rPr lang="en-IN" sz="2000" b="1" dirty="0">
                <a:latin typeface="Aptos" panose="020B0004020202020204" pitchFamily="34" charset="0"/>
              </a:rPr>
              <a:t>User Feedback</a:t>
            </a:r>
            <a:r>
              <a:rPr lang="en-IN" sz="2000" dirty="0">
                <a:latin typeface="Aptos" panose="020B0004020202020204" pitchFamily="34" charset="0"/>
              </a:rPr>
              <a:t>: Continuous improvement based on scientist validation</a:t>
            </a:r>
          </a:p>
        </p:txBody>
      </p:sp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F01D150E-FA13-3D2D-53CD-E7BB5AA3E5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Ctrl+Alt+Elite</a:t>
            </a:r>
            <a:endParaRPr lang="en-IN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A85F690-23B5-BED2-1097-740E3FD38A3C}"/>
              </a:ext>
            </a:extLst>
          </p:cNvPr>
          <p:cNvSpPr/>
          <p:nvPr/>
        </p:nvSpPr>
        <p:spPr>
          <a:xfrm>
            <a:off x="232990" y="979904"/>
            <a:ext cx="4034210" cy="51583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latin typeface="Aptos" panose="020B0004020202020204" pitchFamily="34" charset="0"/>
              </a:rPr>
              <a:t>Feasibility Analysis:</a:t>
            </a:r>
          </a:p>
          <a:p>
            <a:endParaRPr lang="en-IN" sz="24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Python + PostgreSQL convert NetCDF to SQL/JSON, ensuring efficient data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Express.js with RAG + LLMs enables intelligent query handling and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React.js (Leaflet, Cesium, </a:t>
            </a:r>
            <a:r>
              <a:rPr lang="en-US" dirty="0" err="1">
                <a:latin typeface="Aptos" panose="020B0004020202020204" pitchFamily="34" charset="0"/>
              </a:rPr>
              <a:t>Plotly</a:t>
            </a:r>
            <a:r>
              <a:rPr lang="en-US" dirty="0">
                <a:latin typeface="Aptos" panose="020B0004020202020204" pitchFamily="34" charset="0"/>
              </a:rPr>
              <a:t>) delivers rich interactive visualizations.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Modular, cloud-ready design supports MVP, 4000+ ARGO floats, and easy scaling.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7AA6125-DFFB-678F-DEBF-0B5BE57712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Ctrl+Alt+Elite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30593A-C80D-702F-8F1A-3073C265D3A7}"/>
              </a:ext>
            </a:extLst>
          </p:cNvPr>
          <p:cNvSpPr/>
          <p:nvPr/>
        </p:nvSpPr>
        <p:spPr>
          <a:xfrm>
            <a:off x="399776" y="1144535"/>
            <a:ext cx="4825707" cy="2555825"/>
          </a:xfrm>
          <a:prstGeom prst="roundRect">
            <a:avLst>
              <a:gd name="adj" fmla="val 1286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Aptos" panose="020B0004020202020204" pitchFamily="34" charset="0"/>
              </a:rPr>
              <a:t>Impact</a:t>
            </a:r>
            <a:r>
              <a:rPr lang="en-US" sz="2400" b="1" dirty="0"/>
              <a:t>: </a:t>
            </a:r>
            <a:r>
              <a:rPr lang="en-US" sz="1600" dirty="0">
                <a:latin typeface="Aptos" panose="020B0004020202020204" pitchFamily="34" charset="0"/>
              </a:rPr>
              <a:t>Democratizes India's ocean data infrastructure, enabling 10x faster climate research, better monsoon predictions, and informed policy decisions for 1.4 billion citizens affected by ocean-climate interactions.</a:t>
            </a:r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B66988-9874-3F45-EDB8-0B059CA75775}"/>
              </a:ext>
            </a:extLst>
          </p:cNvPr>
          <p:cNvSpPr/>
          <p:nvPr/>
        </p:nvSpPr>
        <p:spPr>
          <a:xfrm>
            <a:off x="6096000" y="1095375"/>
            <a:ext cx="5840361" cy="4509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latin typeface="Aptos" panose="020B0004020202020204" pitchFamily="34" charset="0"/>
              </a:rPr>
              <a:t>Benefits: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Efficiency:</a:t>
            </a:r>
            <a:r>
              <a:rPr lang="en-US" dirty="0">
                <a:latin typeface="Aptos" panose="020B0004020202020204" pitchFamily="34" charset="0"/>
              </a:rPr>
              <a:t> Ocean insights in seconds vs weeks of technical analysis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Cost-effectiveness:</a:t>
            </a:r>
            <a:r>
              <a:rPr lang="en-US" dirty="0">
                <a:latin typeface="Aptos" panose="020B0004020202020204" pitchFamily="34" charset="0"/>
              </a:rPr>
              <a:t> Eliminates need for specialized NetCDF training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Scalability:</a:t>
            </a:r>
            <a:r>
              <a:rPr lang="en-US" dirty="0">
                <a:latin typeface="Aptos" panose="020B0004020202020204" pitchFamily="34" charset="0"/>
              </a:rPr>
              <a:t> Handles 4000+ global ARGO floats, expandable to BGC sensors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Long-term value:</a:t>
            </a:r>
            <a:r>
              <a:rPr lang="en-US" dirty="0">
                <a:latin typeface="Aptos" panose="020B0004020202020204" pitchFamily="34" charset="0"/>
              </a:rPr>
              <a:t> Foundation for India's Blue Economy and climate resilience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A17A06-A085-A766-D7F6-0DDADBBA09DA}"/>
              </a:ext>
            </a:extLst>
          </p:cNvPr>
          <p:cNvSpPr/>
          <p:nvPr/>
        </p:nvSpPr>
        <p:spPr>
          <a:xfrm>
            <a:off x="521110" y="4119716"/>
            <a:ext cx="5250425" cy="19195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Aptos" panose="020B0004020202020204" pitchFamily="34" charset="0"/>
              </a:rPr>
              <a:t>Analogy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dirty="0"/>
              <a:t>Traditional ocean data access is like having a library where all books are locked in safes. </a:t>
            </a:r>
            <a:r>
              <a:rPr lang="en-US" dirty="0" err="1"/>
              <a:t>FloatChat</a:t>
            </a:r>
            <a:r>
              <a:rPr lang="en-US" dirty="0"/>
              <a:t> is the master key that lets everyone read the ocean's story.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EE3463E-FBAB-BC52-83EB-A8F4865ECE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57097"/>
            <a:ext cx="22091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Ctrl+Alt+Elite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8EA84-5B7F-0E2A-9D3D-FB8E05803250}"/>
              </a:ext>
            </a:extLst>
          </p:cNvPr>
          <p:cNvSpPr txBox="1"/>
          <p:nvPr/>
        </p:nvSpPr>
        <p:spPr>
          <a:xfrm>
            <a:off x="481781" y="1179965"/>
            <a:ext cx="866221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00FF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r>
              <a:rPr lang="en-IN" sz="2400" b="1" dirty="0">
                <a:solidFill>
                  <a:schemeClr val="tx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:</a:t>
            </a:r>
          </a:p>
          <a:p>
            <a:pPr algn="just"/>
            <a:endParaRPr lang="en-IN" sz="2400" b="1" dirty="0">
              <a:solidFill>
                <a:schemeClr val="tx1"/>
              </a:solidFill>
              <a:latin typeface="Aptos" panose="020B0004020202020204" pitchFamily="34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just"/>
            <a:r>
              <a:rPr lang="en-IN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https://www.ncei.noaa.gov/access/metadata/landing-page/bin/iso?id=gov.noaa.nodc%3AArgo-Monthly&amp;utm_source=chatgpt.com</a:t>
            </a:r>
            <a:endParaRPr lang="en-IN" dirty="0"/>
          </a:p>
          <a:p>
            <a:pPr algn="just"/>
            <a:endParaRPr lang="en-IN" dirty="0">
              <a:hlinkClick r:id="rId5"/>
            </a:endParaRPr>
          </a:p>
          <a:p>
            <a:pPr algn="just"/>
            <a:r>
              <a:rPr lang="en-IN" dirty="0">
                <a:hlinkClick r:id="rId5"/>
              </a:rPr>
              <a:t>https://argo.ucsd.edu/data/acknowledging-argo/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>
                <a:hlinkClick r:id="rId6"/>
              </a:rPr>
              <a:t>https://www.data.gov.in/resource/indian-ocean-argo-data?utm_source=chatgpt.com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sz="2400" b="1" dirty="0">
                <a:latin typeface="Aptos" panose="020B0004020202020204" pitchFamily="34" charset="0"/>
              </a:rPr>
              <a:t>References:</a:t>
            </a:r>
          </a:p>
          <a:p>
            <a:pPr algn="just"/>
            <a:endParaRPr lang="en-IN" b="1" dirty="0">
              <a:latin typeface="Aptos" panose="020B0004020202020204" pitchFamily="34" charset="0"/>
            </a:endParaRPr>
          </a:p>
          <a:p>
            <a:pPr algn="just"/>
            <a:r>
              <a:rPr lang="en-IN" dirty="0">
                <a:latin typeface="Aptos" panose="020B0004020202020204" pitchFamily="34" charset="0"/>
                <a:hlinkClick r:id="rId7"/>
              </a:rPr>
              <a:t>https://www.ncei.noaa.gov/data/oceans/</a:t>
            </a:r>
            <a:endParaRPr lang="en-IN" dirty="0">
              <a:latin typeface="Aptos" panose="020B0004020202020204" pitchFamily="34" charset="0"/>
            </a:endParaRPr>
          </a:p>
          <a:p>
            <a:pPr algn="just"/>
            <a:endParaRPr lang="en-IN" dirty="0">
              <a:latin typeface="Aptos" panose="020B0004020202020204" pitchFamily="34" charset="0"/>
            </a:endParaRPr>
          </a:p>
          <a:p>
            <a:pPr algn="just"/>
            <a:r>
              <a:rPr lang="en-IN" dirty="0">
                <a:latin typeface="Aptos" panose="020B0004020202020204" pitchFamily="34" charset="0"/>
                <a:hlinkClick r:id="rId8"/>
              </a:rPr>
              <a:t>http://ncei.noaa.gov/data/</a:t>
            </a:r>
            <a:endParaRPr lang="en-IN" dirty="0">
              <a:latin typeface="Aptos" panose="020B0004020202020204" pitchFamily="34" charset="0"/>
            </a:endParaRPr>
          </a:p>
          <a:p>
            <a:pPr algn="just"/>
            <a:endParaRPr lang="en-IN" dirty="0">
              <a:latin typeface="Aptos" panose="020B0004020202020204" pitchFamily="34" charset="0"/>
            </a:endParaRPr>
          </a:p>
          <a:p>
            <a:pPr algn="just"/>
            <a:endParaRPr lang="en-IN" dirty="0">
              <a:latin typeface="Aptos" panose="020B0004020202020204" pitchFamily="34" charset="0"/>
            </a:endParaRPr>
          </a:p>
          <a:p>
            <a:pPr algn="just"/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7828</TotalTime>
  <Words>651</Words>
  <Application>Microsoft Office PowerPoint</Application>
  <PresentationFormat>Widescreen</PresentationFormat>
  <Paragraphs>108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 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chowdary</cp:lastModifiedBy>
  <cp:revision>150</cp:revision>
  <dcterms:created xsi:type="dcterms:W3CDTF">2013-12-12T18:46:50Z</dcterms:created>
  <dcterms:modified xsi:type="dcterms:W3CDTF">2025-09-21T20:19:25Z</dcterms:modified>
  <cp:category/>
</cp:coreProperties>
</file>